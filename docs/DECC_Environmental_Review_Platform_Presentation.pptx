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097280"/>
            <a:ext cx="1097280" cy="73152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99713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C59B27"/>
                </a:solidFill>
              </a:defRPr>
            </a:pPr>
            <a:r>
              <a:t>GOVERNMENT OF MAHARASHTRA • DIRECTORATE OF ENVIRONMENT &amp; CLIMATE CHANGE</a:t>
            </a:r>
          </a:p>
          <a:p>
            <a:pPr>
              <a:spcAft>
                <a:spcPts val="1400"/>
              </a:spcAft>
              <a:defRPr sz="3200" b="1">
                <a:solidFill>
                  <a:srgbClr val="FFFFFF"/>
                </a:solidFill>
              </a:defRPr>
            </a:pPr>
            <a:r>
              <a:t>Application Intelligence &amp; Environmental Review Portal</a:t>
            </a:r>
          </a:p>
          <a:p>
            <a:pPr>
              <a:spcAft>
                <a:spcPts val="2800"/>
              </a:spcAft>
              <a:defRPr sz="1400">
                <a:solidFill>
                  <a:srgbClr val="CBD5E1"/>
                </a:solidFill>
              </a:defRPr>
            </a:pPr>
            <a:r>
              <a:t>An AI-powered decision support platform automating document ingestion, cross-verification, deterministic scheme validation, ChromaDB RAG, and 3-model XGBoost risk scoring with authoritative human-in-the-loop sign-off.</a:t>
            </a:r>
          </a:p>
          <a:p>
            <a:pPr>
              <a:defRPr sz="1300" b="1">
                <a:solidFill>
                  <a:srgbClr val="C59B27"/>
                </a:solidFill>
              </a:defRPr>
            </a:pPr>
            <a:r>
              <a:t>CORE PRINCIPLE:  AI ASSISTS · HUMAN DECIDES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C59B27"/>
                </a:solidFill>
              </a:defRPr>
            </a:pPr>
            <a:r>
              <a:t>PROBLEM STATEMENT</a:t>
            </a:r>
          </a:p>
          <a:p>
            <a:pPr>
              <a:defRPr sz="2200" b="1">
                <a:solidFill>
                  <a:srgbClr val="0A2540"/>
                </a:solidFill>
              </a:defRPr>
            </a:pPr>
            <a:r>
              <a:t>The Problem: Manual Document Processing &amp; Review Bottlenecks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5780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37160" cy="224028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600200"/>
            <a:ext cx="470916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A2540"/>
                </a:solidFill>
              </a:defRPr>
            </a:pPr>
            <a:r>
              <a:t>1. Multi-Week Processing Latency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Physical paper stacks and unstructured PDFs require manual line-by-line inspection by officers, leading to multi-week review cycles and application backlogs.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371600"/>
            <a:ext cx="525780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72200" y="1371600"/>
            <a:ext cx="137160" cy="224028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00200"/>
            <a:ext cx="470916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A2540"/>
                </a:solidFill>
              </a:defRPr>
            </a:pPr>
            <a:r>
              <a:t>2. Undetected Cross-Doc Contradictions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Discrepancies in project cost, duration, or applicant identity across proposals, budget sheets, and certificates are difficult to catch manually.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525780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137160" cy="224028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069080"/>
            <a:ext cx="470916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A2540"/>
                </a:solidFill>
              </a:defRPr>
            </a:pPr>
            <a:r>
              <a:t>3. Complex Policy Guidelines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Scheme rules, funding ceilings, and eligibility criteria are scattered across dense government gazettes, leading to inconsistent rule interpretation.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840480"/>
            <a:ext cx="525780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72200" y="3840480"/>
            <a:ext cx="137160" cy="224028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069080"/>
            <a:ext cx="470916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A2540"/>
                </a:solidFill>
              </a:defRPr>
            </a:pPr>
            <a:r>
              <a:t>4. Lack of Explainable Risk Scoring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Reviewers lack objective, data-driven risk indicators to triage applications, resulting in equal time spent on obvious approvals and high-risk cases.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C59B27"/>
                </a:solidFill>
              </a:defRPr>
            </a:pPr>
            <a:r>
              <a:t>VALUE PROPOSITION</a:t>
            </a:r>
          </a:p>
          <a:p>
            <a:pPr>
              <a:defRPr sz="2200" b="1">
                <a:solidFill>
                  <a:srgbClr val="0A2540"/>
                </a:solidFill>
              </a:defRPr>
            </a:pPr>
            <a:r>
              <a:t>Our Solution: Automated Intelligence with Authoritative Human Review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42900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00200"/>
            <a:ext cx="297180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C59B27"/>
                </a:solidFill>
              </a:defRPr>
            </a:pPr>
            <a:r>
              <a:t>INGESTION &amp; EXTRACTION</a:t>
            </a:r>
          </a:p>
          <a:p>
            <a:pPr>
              <a:spcAft>
                <a:spcPts val="600"/>
              </a:spcAft>
              <a:defRPr sz="1350" b="1">
                <a:solidFill>
                  <a:srgbClr val="0A2540"/>
                </a:solidFill>
              </a:defRPr>
            </a:pPr>
            <a:r>
              <a:t>Automated Document Intake &amp; OCR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Multi-file parser using PyPDF, PDFPlumber, and Tesseract OCR with automatic raster detection and density metrics.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371600"/>
            <a:ext cx="342900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600200"/>
            <a:ext cx="297180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C59B27"/>
                </a:solidFill>
              </a:defRPr>
            </a:pPr>
            <a:r>
              <a:t>DATA INTEGRITY</a:t>
            </a:r>
          </a:p>
          <a:p>
            <a:pPr>
              <a:spcAft>
                <a:spcPts val="600"/>
              </a:spcAft>
              <a:defRPr sz="1350" b="1">
                <a:solidFill>
                  <a:srgbClr val="0A2540"/>
                </a:solidFill>
              </a:defRPr>
            </a:pPr>
            <a:r>
              <a:t>Cross-Document Normalization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Synthesizes a single canonical ApplicationProfile while detecting contradictions across budget, duration, and entity fields.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371600"/>
            <a:ext cx="342900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80" y="1600200"/>
            <a:ext cx="297180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C59B27"/>
                </a:solidFill>
              </a:defRPr>
            </a:pPr>
            <a:r>
              <a:t>STATUTORY RAG</a:t>
            </a:r>
          </a:p>
          <a:p>
            <a:pPr>
              <a:spcAft>
                <a:spcPts val="600"/>
              </a:spcAft>
              <a:defRPr sz="1350" b="1">
                <a:solidFill>
                  <a:srgbClr val="0A2540"/>
                </a:solidFill>
              </a:defRPr>
            </a:pPr>
            <a:r>
              <a:t>RAG-Grounded Policy Verification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ChromaDB vector search indexes statutory scheme guidelines with dense embeddings to ground all eligibility findings.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342900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069080"/>
            <a:ext cx="297180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C59B27"/>
                </a:solidFill>
              </a:defRPr>
            </a:pPr>
            <a:r>
              <a:t>PREDICTIVE ML</a:t>
            </a:r>
          </a:p>
          <a:p>
            <a:pPr>
              <a:spcAft>
                <a:spcPts val="600"/>
              </a:spcAft>
              <a:defRPr sz="1350" b="1">
                <a:solidFill>
                  <a:srgbClr val="0A2540"/>
                </a:solidFill>
              </a:defRPr>
            </a:pPr>
            <a:r>
              <a:t>3-Model XGBoost Risk Scoring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Trained ML ensemble produces risk classes (Low/Med/High), risk score (0-100), and quality score (0-100) with gain importance.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3840480"/>
            <a:ext cx="342900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4069080"/>
            <a:ext cx="297180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C59B27"/>
                </a:solidFill>
              </a:defRPr>
            </a:pPr>
            <a:r>
              <a:t>DECISION SUPPORT</a:t>
            </a:r>
          </a:p>
          <a:p>
            <a:pPr>
              <a:spcAft>
                <a:spcPts val="600"/>
              </a:spcAft>
              <a:defRPr sz="1350" b="1">
                <a:solidFill>
                  <a:srgbClr val="0A2540"/>
                </a:solidFill>
              </a:defRPr>
            </a:pPr>
            <a:r>
              <a:t>Post-Scoring LLM Reasoning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OpenRouter LLM generates natural-language case summaries and clarification points without altering deterministic scores.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3840480"/>
            <a:ext cx="342900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4069080"/>
            <a:ext cx="297180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C59B27"/>
                </a:solidFill>
              </a:defRPr>
            </a:pPr>
            <a:r>
              <a:t>GOVERNANCE &amp; AUDIT</a:t>
            </a:r>
          </a:p>
          <a:p>
            <a:pPr>
              <a:spcAft>
                <a:spcPts val="600"/>
              </a:spcAft>
              <a:defRPr sz="1350" b="1">
                <a:solidFill>
                  <a:srgbClr val="0A2540"/>
                </a:solidFill>
              </a:defRPr>
            </a:pPr>
            <a:r>
              <a:t>Reviewer Decision Cockpit &amp; Email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Reviewers inspect evidence, record final decisions, and dispatch gap-free HTML clearance reports to citizen emails in 1 click.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C59B27"/>
                </a:solidFill>
              </a:defRPr>
            </a:pPr>
            <a:r>
              <a:t>ARCHITECTURE OVERVIEW</a:t>
            </a:r>
          </a:p>
          <a:p>
            <a:pPr>
              <a:defRPr sz="2200" b="1">
                <a:solidFill>
                  <a:srgbClr val="0A2540"/>
                </a:solidFill>
              </a:defRPr>
            </a:pPr>
            <a:r>
              <a:t>System Architecture: Layered, Resilient &amp; Modular Design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36192"/>
            <a:ext cx="1018001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A2540"/>
                </a:solidFill>
              </a:defRPr>
            </a:pPr>
            <a:r>
              <a:t>1. Presentation Layer (Frontend SPA)</a:t>
            </a:r>
          </a:p>
          <a:p>
            <a:pPr>
              <a:defRPr sz="1150">
                <a:solidFill>
                  <a:srgbClr val="64748B"/>
                </a:solidFill>
              </a:defRPr>
            </a:pPr>
            <a:r>
              <a:t>React 18 + TypeScript + Vite + Tailwind CSS • Bilingual i18n (English &amp; Hindi) • Government Visual Language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10728655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24912"/>
            <a:ext cx="1018001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A2540"/>
                </a:solidFill>
              </a:defRPr>
            </a:pPr>
            <a:r>
              <a:t>2. Gateway &amp; API Layer (FastAPI)</a:t>
            </a:r>
          </a:p>
          <a:p>
            <a:pPr>
              <a:defRPr sz="1150">
                <a:solidFill>
                  <a:srgbClr val="64748B"/>
                </a:solidFill>
              </a:defRPr>
            </a:pPr>
            <a:r>
              <a:t>FastAPI REST API v1 • JWT Authentication &amp; RBAC • Pydantic v2 Schema Validation • Rate Limiting &amp; CORS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49039"/>
            <a:ext cx="10728655" cy="1005840"/>
          </a:xfrm>
          <a:prstGeom prst="roundRect">
            <a:avLst/>
          </a:prstGeom>
          <a:solidFill>
            <a:srgbClr val="FFFBEB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913631"/>
            <a:ext cx="1018001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A2540"/>
                </a:solidFill>
              </a:defRPr>
            </a:pPr>
            <a:r>
              <a:t>3. Core Pipeline &amp; AI Services</a:t>
            </a:r>
          </a:p>
          <a:p>
            <a:pPr>
              <a:defRPr sz="1150">
                <a:solidFill>
                  <a:srgbClr val="64748B"/>
                </a:solidFill>
              </a:defRPr>
            </a:pPr>
            <a:r>
              <a:t>Document Extraction (OCR) • Normalization • Deterministic &amp; Cross-Doc Validation • ChromaDB RAG • XGBoost ML (3 Models) • OpenRouter LLM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937760"/>
            <a:ext cx="10728655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102352"/>
            <a:ext cx="1018001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A2540"/>
                </a:solidFill>
              </a:defRPr>
            </a:pPr>
            <a:r>
              <a:t>4. Data, Vector &amp; Storage Layer</a:t>
            </a:r>
          </a:p>
          <a:p>
            <a:pPr>
              <a:defRPr sz="1150">
                <a:solidFill>
                  <a:srgbClr val="64748B"/>
                </a:solidFill>
              </a:defRPr>
            </a:pPr>
            <a:r>
              <a:t>SQLAlchemy ORM • SQLite / PostgreSQL DB (18 Entities) • ChromaDB Vector Store (/data/chroma) • Encrypted File Store (/data/uploads)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C59B27"/>
                </a:solidFill>
              </a:defRPr>
            </a:pPr>
            <a:r>
              <a:t>WORKFLOW PIPELINE</a:t>
            </a:r>
          </a:p>
          <a:p>
            <a:pPr>
              <a:defRPr sz="2200" b="1">
                <a:solidFill>
                  <a:srgbClr val="0A2540"/>
                </a:solidFill>
              </a:defRPr>
            </a:pPr>
            <a:r>
              <a:t>End-to-End Execution: 7-Stage Continuous Verification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444752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1645920"/>
            <a:ext cx="1225296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A2540"/>
                </a:solidFill>
              </a:defRPr>
            </a:pPr>
            <a:r>
              <a:t>01</a:t>
            </a:r>
          </a:p>
          <a:p>
            <a:pPr>
              <a:spcAft>
                <a:spcPts val="800"/>
              </a:spcAft>
              <a:defRPr sz="1250" b="1">
                <a:solidFill>
                  <a:srgbClr val="0A2540"/>
                </a:solidFill>
              </a:defRPr>
            </a:pPr>
            <a:r>
              <a:t>Application Received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Intake form parameters and applicant identity logged into relational DB.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76856" y="1463040"/>
            <a:ext cx="1444752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86584" y="1645920"/>
            <a:ext cx="1225296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A2540"/>
                </a:solidFill>
              </a:defRPr>
            </a:pPr>
            <a:r>
              <a:t>02</a:t>
            </a:r>
          </a:p>
          <a:p>
            <a:pPr>
              <a:spcAft>
                <a:spcPts val="800"/>
              </a:spcAft>
              <a:defRPr sz="1250" b="1">
                <a:solidFill>
                  <a:srgbClr val="0A2540"/>
                </a:solidFill>
              </a:defRPr>
            </a:pPr>
            <a:r>
              <a:t>Documents Checked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Multi-file MIME verification, SHA-256 checksum hashing, and storage.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22191" y="1463040"/>
            <a:ext cx="1444752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19" y="1645920"/>
            <a:ext cx="1225296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A2540"/>
                </a:solidFill>
              </a:defRPr>
            </a:pPr>
            <a:r>
              <a:t>03</a:t>
            </a:r>
          </a:p>
          <a:p>
            <a:pPr>
              <a:spcAft>
                <a:spcPts val="800"/>
              </a:spcAft>
              <a:defRPr sz="1250" b="1">
                <a:solidFill>
                  <a:srgbClr val="0A2540"/>
                </a:solidFill>
              </a:defRPr>
            </a:pPr>
            <a:r>
              <a:t>Data Extracted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PDFPlumber text parsing + Tesseract OCR fallback + Entity classification.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67528" y="1463040"/>
            <a:ext cx="1444752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77256" y="1645920"/>
            <a:ext cx="1225296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A2540"/>
                </a:solidFill>
              </a:defRPr>
            </a:pPr>
            <a:r>
              <a:t>04</a:t>
            </a:r>
          </a:p>
          <a:p>
            <a:pPr>
              <a:spcAft>
                <a:spcPts val="800"/>
              </a:spcAft>
              <a:defRPr sz="1250" b="1">
                <a:solidFill>
                  <a:srgbClr val="0A2540"/>
                </a:solidFill>
              </a:defRPr>
            </a:pPr>
            <a:r>
              <a:t>Validation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Deterministic criteria &amp; cross-document consistency comparisons.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12864" y="1463040"/>
            <a:ext cx="1444752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22592" y="1645920"/>
            <a:ext cx="1225296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A2540"/>
                </a:solidFill>
              </a:defRPr>
            </a:pPr>
            <a:r>
              <a:t>05</a:t>
            </a:r>
          </a:p>
          <a:p>
            <a:pPr>
              <a:spcAft>
                <a:spcPts val="800"/>
              </a:spcAft>
              <a:defRPr sz="1250" b="1">
                <a:solidFill>
                  <a:srgbClr val="0A2540"/>
                </a:solidFill>
              </a:defRPr>
            </a:pPr>
            <a:r>
              <a:t>Rule Check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Statutory scheme eligibility rules and financial ceiling limits tested.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58200" y="1463040"/>
            <a:ext cx="1444752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67928" y="1645920"/>
            <a:ext cx="1225296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A2540"/>
                </a:solidFill>
              </a:defRPr>
            </a:pPr>
            <a:r>
              <a:t>06</a:t>
            </a:r>
          </a:p>
          <a:p>
            <a:pPr>
              <a:spcAft>
                <a:spcPts val="800"/>
              </a:spcAft>
              <a:defRPr sz="1250" b="1">
                <a:solidFill>
                  <a:srgbClr val="0A2540"/>
                </a:solidFill>
              </a:defRPr>
            </a:pPr>
            <a:r>
              <a:t>AI Assessment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13 canonical ML features computed; 3 XGBoost models score risk &amp; quality; LLM reasons.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03536" y="1463040"/>
            <a:ext cx="1444752" cy="4663440"/>
          </a:xfrm>
          <a:prstGeom prst="roundRect">
            <a:avLst/>
          </a:prstGeom>
          <a:solidFill>
            <a:srgbClr val="FFFBEB"/>
          </a:solidFill>
          <a:ln w="1524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13264" y="1645920"/>
            <a:ext cx="1225296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C59B27"/>
                </a:solidFill>
              </a:defRPr>
            </a:pPr>
            <a:r>
              <a:t>07</a:t>
            </a:r>
          </a:p>
          <a:p>
            <a:pPr>
              <a:spcAft>
                <a:spcPts val="800"/>
              </a:spcAft>
              <a:defRPr sz="1250" b="1">
                <a:solidFill>
                  <a:srgbClr val="0A2540"/>
                </a:solidFill>
              </a:defRPr>
            </a:pPr>
            <a:r>
              <a:t>Reviewer Decision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Pipeline halts at checkpoint; authorized officer reviews and signs off.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C59B27"/>
                </a:solidFill>
              </a:defRPr>
            </a:pPr>
            <a:r>
              <a:t>TECHNICAL INNOVATIONS</a:t>
            </a:r>
          </a:p>
          <a:p>
            <a:pPr>
              <a:defRPr sz="2200" b="1">
                <a:solidFill>
                  <a:srgbClr val="0A2540"/>
                </a:solidFill>
              </a:defRPr>
            </a:pPr>
            <a:r>
              <a:t>Technical Excellence: 5 Architectural Differentiators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481328"/>
            <a:ext cx="101800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A2540"/>
                </a:solidFill>
              </a:defRPr>
            </a:pPr>
            <a:r>
              <a:t>1. Deterministic-First Validation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Zero AI hallucination risk in legal checks. Schema integrity, cost limits, and guideline rules are evaluated deterministically in Python before invoking any ML/LLM.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10728655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487168"/>
            <a:ext cx="101800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A2540"/>
                </a:solidFill>
              </a:defRPr>
            </a:pPr>
            <a:r>
              <a:t>2. Cross-Document Contradiction Matrix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Compares canonical fields (e.g. Project Cost, Duration) across multiple documents. Single-source values are safely flagged NOT_VERIFIABLE without false penalties.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83280"/>
            <a:ext cx="10728655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493008"/>
            <a:ext cx="101800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A2540"/>
                </a:solidFill>
              </a:defRPr>
            </a:pPr>
            <a:r>
              <a:t>3. ChromaDB Policy RAG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Indexes statutory scheme markdown guides using sentence-transformers/all-MiniLM-L6-v2 dense embeddings, linking exact clause citations into reviewer evidence.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89120"/>
            <a:ext cx="10728655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498848"/>
            <a:ext cx="101800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A2540"/>
                </a:solidFill>
              </a:defRPr>
            </a:pPr>
            <a:r>
              <a:t>4. 3-Model XGBoost Production Ensemble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Uses 3 separate serialized .ubj models (risk_classifier, risk_regressor, quality_regressor) with 13 canonical features and global gain feature importances.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94960"/>
            <a:ext cx="10728655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504688"/>
            <a:ext cx="101800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A2540"/>
                </a:solidFill>
              </a:defRPr>
            </a:pPr>
            <a:r>
              <a:t>5. Resilient LLM with Degraded Mode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OpenRouter client with exponential backoff retry and automatic fallback model. If external LLMs fail, deterministic and ML scores remain 100% functional.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C59B27"/>
                </a:solidFill>
              </a:defRPr>
            </a:pPr>
            <a:r>
              <a:t>REVIEWER WORKSPACE</a:t>
            </a:r>
          </a:p>
          <a:p>
            <a:pPr>
              <a:defRPr sz="2200" b="1">
                <a:solidFill>
                  <a:srgbClr val="0A2540"/>
                </a:solidFill>
              </a:defRPr>
            </a:pPr>
            <a:r>
              <a:t>Officer Governance: Decision Cockpit &amp; Automated Clearance Email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5780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00200"/>
            <a:ext cx="470916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C59B27"/>
                </a:solidFill>
              </a:defRPr>
            </a:pPr>
            <a:r>
              <a:t>HUMAN REVIEWER COCKPIT</a:t>
            </a:r>
          </a:p>
          <a:p>
            <a:pPr>
              <a:spcAft>
                <a:spcPts val="1000"/>
              </a:spcAft>
              <a:defRPr sz="1600" b="1">
                <a:solidFill>
                  <a:srgbClr val="0A2540"/>
                </a:solidFill>
              </a:defRPr>
            </a:pPr>
            <a:r>
              <a:t>Authoritative Officer Workspace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</a:defRPr>
            </a:pPr>
            <a:r>
              <a:t>•  Visual Priority Flow: Application Summary → Key Findings → Policy Evidence → AI Advisory → Official Decision.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</a:defRPr>
            </a:pPr>
            <a:r>
              <a:t>•  Decision Actions: Official sign-off options: Approve, Request Clarification, or Reject.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</a:defRPr>
            </a:pPr>
            <a:r>
              <a:t>•  Mandatory Override Logging: If an officer overrides the AI advisory recommendation, an explicit justification is committed to the audit trail.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</a:defRPr>
            </a:pPr>
            <a:r>
              <a:t>•  Bilingual Operation: Full support for English and Hindi (मराठी/हिंदी) navigation.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99632" y="1371600"/>
            <a:ext cx="525780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73952" y="1600200"/>
            <a:ext cx="470916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C59B27"/>
                </a:solidFill>
              </a:defRPr>
            </a:pPr>
            <a:r>
              <a:t>EMAIL REPORT DISPATCH</a:t>
            </a:r>
          </a:p>
          <a:p>
            <a:pPr>
              <a:spcAft>
                <a:spcPts val="1000"/>
              </a:spcAft>
              <a:defRPr sz="1600" b="1">
                <a:solidFill>
                  <a:srgbClr val="0A2540"/>
                </a:solidFill>
              </a:defRPr>
            </a:pPr>
            <a:r>
              <a:t>Gap-Free HTML Clearance Reports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</a:defRPr>
            </a:pPr>
            <a:r>
              <a:t>•  1-Click Dispatch: Officers trigger official clearance report dispatch directly from the review screen.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</a:defRPr>
            </a:pPr>
            <a:r>
              <a:t>•  Structured Issue Cards: Identifies exact deficient parameters, missing certificates, or cost limit violations.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</a:defRPr>
            </a:pPr>
            <a:r>
              <a:t>•  Actionable Next Steps: Clear guidance provided to citizen applicants regarding required clarifications.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</a:defRPr>
            </a:pPr>
            <a:r>
              <a:t>•  SMTP Integration: Delivered directly via TLS-encrypted government or corporate SMTP mail relays.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C59B27"/>
                </a:solidFill>
              </a:defRPr>
            </a:pPr>
            <a:r>
              <a:t>DELIVERING MEASURABLE VALUE</a:t>
            </a:r>
          </a:p>
          <a:p>
            <a:pPr>
              <a:spcAft>
                <a:spcPts val="2000"/>
              </a:spcAft>
              <a:defRPr sz="2800" b="1">
                <a:solidFill>
                  <a:srgbClr val="FFFFFF"/>
                </a:solidFill>
              </a:defRPr>
            </a:pPr>
            <a:r>
              <a:t>Transforming Environmental Governance with Trust &amp; Intelligence</a:t>
            </a:r>
          </a:p>
          <a:p>
            <a:pPr>
              <a:spcAft>
                <a:spcPts val="200"/>
              </a:spcAft>
              <a:defRPr sz="1600" b="1">
                <a:solidFill>
                  <a:srgbClr val="C59B27"/>
                </a:solidFill>
              </a:defRPr>
            </a:pPr>
            <a:r>
              <a:t>✓  90% Faster Turnaround</a:t>
            </a:r>
          </a:p>
          <a:p>
            <a:pPr>
              <a:spcAft>
                <a:spcPts val="1400"/>
              </a:spcAft>
              <a:defRPr sz="1300">
                <a:solidFill>
                  <a:srgbClr val="CBD5E1"/>
                </a:solidFill>
              </a:defRPr>
            </a:pPr>
            <a:r>
              <a:t>    Application evaluation cycle reduced from 15-30 days to under 30 seconds of automated verification.</a:t>
            </a:r>
          </a:p>
          <a:p>
            <a:pPr>
              <a:spcAft>
                <a:spcPts val="200"/>
              </a:spcAft>
              <a:defRPr sz="1600" b="1">
                <a:solidFill>
                  <a:srgbClr val="C59B27"/>
                </a:solidFill>
              </a:defRPr>
            </a:pPr>
            <a:r>
              <a:t>✓  100% Audit Integrity</a:t>
            </a:r>
          </a:p>
          <a:p>
            <a:pPr>
              <a:spcAft>
                <a:spcPts val="1400"/>
              </a:spcAft>
              <a:defRPr sz="1300">
                <a:solidFill>
                  <a:srgbClr val="CBD5E1"/>
                </a:solidFill>
              </a:defRPr>
            </a:pPr>
            <a:r>
              <a:t>    Immutable audit trail tracking every validation check, ML feature calculation, and officer sign-off.</a:t>
            </a:r>
          </a:p>
          <a:p>
            <a:pPr>
              <a:spcAft>
                <a:spcPts val="200"/>
              </a:spcAft>
              <a:defRPr sz="1600" b="1">
                <a:solidFill>
                  <a:srgbClr val="C59B27"/>
                </a:solidFill>
              </a:defRPr>
            </a:pPr>
            <a:r>
              <a:t>✓  Zero Hallucinations</a:t>
            </a:r>
          </a:p>
          <a:p>
            <a:pPr>
              <a:spcAft>
                <a:spcPts val="1400"/>
              </a:spcAft>
              <a:defRPr sz="1300">
                <a:solidFill>
                  <a:srgbClr val="CBD5E1"/>
                </a:solidFill>
              </a:defRPr>
            </a:pPr>
            <a:r>
              <a:t>    Deterministic scheme validation and RAG evidence grounding guarantee statutory legal compliance.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