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097280" cy="73152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971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C59B27"/>
                </a:solidFill>
              </a:defRPr>
            </a:pPr>
            <a:r>
              <a:t>GOVERNMENT OF MAHARASHTRA • DIRECTORATE OF ENVIRONMENT &amp; CLIMATE CHANGE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</a:defRPr>
            </a:pPr>
            <a:r>
              <a:t>Smart Environmental Application Review Platform</a:t>
            </a:r>
          </a:p>
          <a:p>
            <a:pPr>
              <a:spcAft>
                <a:spcPts val="2800"/>
              </a:spcAft>
              <a:defRPr sz="1500">
                <a:solidFill>
                  <a:srgbClr val="CBD5E1"/>
                </a:solidFill>
              </a:defRPr>
            </a:pPr>
            <a:r>
              <a:t>An easy-to-use digital system that reads citizen applications, cross-checks documents for errors, verifies government scheme rules, and calculates a clear risk score to help officers make fast, fair decisions.</a:t>
            </a:r>
          </a:p>
          <a:p>
            <a:pPr>
              <a:defRPr sz="1400" b="1">
                <a:solidFill>
                  <a:srgbClr val="C59B27"/>
                </a:solidFill>
              </a:defRPr>
            </a:pPr>
            <a:r>
              <a:t>CORE PRINCIPLE:  AI ASSISTS · THE OFFICER DECIDES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C59B27"/>
                </a:solidFill>
              </a:defRPr>
            </a:pPr>
            <a:r>
              <a:t>THE CHALLENGE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The Real-World Problem: Why Manual Review Is Slow &amp; Difficult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37160" cy="22402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600200"/>
            <a:ext cx="470916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2540"/>
                </a:solidFill>
              </a:defRPr>
            </a:pPr>
            <a:r>
              <a:t>⏳ 15 to 30 Days of Manual Waiting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Officers must read dozens of physical pages and scanned PDFs line-by-line. This causes long citizen waiting times and huge office backlogs.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137160" cy="22402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70916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2540"/>
                </a:solidFill>
              </a:defRPr>
            </a:pPr>
            <a:r>
              <a:t>🔍 Hard to Spot Hidden Contradictions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If the project cost is ₹45 Lakhs in the proposal but ₹50 Lakhs in the budget sheet, catching these small differences across multiple files is very difficult by eye.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37160" cy="22402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69080"/>
            <a:ext cx="470916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2540"/>
                </a:solidFill>
              </a:defRPr>
            </a:pPr>
            <a:r>
              <a:t>📚 Complex Rules Scattered in PDFs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Government scheme guidelines, budget caps, and eligibility limits are buried in long policy PDFs, making it hard to double-check every single rule.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4048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3840480"/>
            <a:ext cx="137160" cy="22402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069080"/>
            <a:ext cx="470916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2540"/>
                </a:solidFill>
              </a:defRPr>
            </a:pPr>
            <a:r>
              <a:t>⚖️ No Clear Way to Prioritize Cases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Officers have no quick risk summary. Clean, straightforward applications take just as long to process as suspicious or high-risk 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C59B27"/>
                </a:solidFill>
              </a:defRPr>
            </a:pPr>
            <a:r>
              <a:t>WHAT WE BUILT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Our Solution: Fast Automated Checks with Complete Officer Control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297180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C59B27"/>
                </a:solidFill>
              </a:defRPr>
            </a:pPr>
            <a:r>
              <a:t>STEP 1: READ</a:t>
            </a:r>
          </a:p>
          <a:p>
            <a:pPr>
              <a:spcAft>
                <a:spcPts val="600"/>
              </a:spcAft>
              <a:defRPr sz="1400" b="1">
                <a:solidFill>
                  <a:srgbClr val="0A2540"/>
                </a:solidFill>
              </a:defRPr>
            </a:pPr>
            <a:r>
              <a:t>Smart Document Reader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Reads digital PDFs, scanned files, spreadsheets, and certificates automatically using smart OCR technology.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7160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600200"/>
            <a:ext cx="297180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C59B27"/>
                </a:solidFill>
              </a:defRPr>
            </a:pPr>
            <a:r>
              <a:t>STEP 2: COMPARE</a:t>
            </a:r>
          </a:p>
          <a:p>
            <a:pPr>
              <a:spcAft>
                <a:spcPts val="600"/>
              </a:spcAft>
              <a:defRPr sz="1400" b="1">
                <a:solidFill>
                  <a:srgbClr val="0A2540"/>
                </a:solidFill>
              </a:defRPr>
            </a:pPr>
            <a:r>
              <a:t>Cross-Document Checker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Compares all files at once to instantly spot any mismatches in project costs, dates, or applicant names.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37160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600200"/>
            <a:ext cx="297180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C59B27"/>
                </a:solidFill>
              </a:defRPr>
            </a:pPr>
            <a:r>
              <a:t>STEP 3: MATCH</a:t>
            </a:r>
          </a:p>
          <a:p>
            <a:pPr>
              <a:spcAft>
                <a:spcPts val="600"/>
              </a:spcAft>
              <a:defRPr sz="1400" b="1">
                <a:solidFill>
                  <a:srgbClr val="0A2540"/>
                </a:solidFill>
              </a:defRPr>
            </a:pPr>
            <a:r>
              <a:t>Instant Policy Matcher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Searches government policy guides to make sure the project fits all legal guidelines and funding limits.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69080"/>
            <a:ext cx="297180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C59B27"/>
                </a:solidFill>
              </a:defRPr>
            </a:pPr>
            <a:r>
              <a:t>STEP 4: SCORE</a:t>
            </a:r>
          </a:p>
          <a:p>
            <a:pPr>
              <a:spcAft>
                <a:spcPts val="600"/>
              </a:spcAft>
              <a:defRPr sz="1400" b="1">
                <a:solidFill>
                  <a:srgbClr val="0A2540"/>
                </a:solidFill>
              </a:defRPr>
            </a:pPr>
            <a:r>
              <a:t>Easy 0–100 Risk Score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Uses machine learning to give each application a clear Risk Score (0-100) and Quality Score (0-100).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84048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069080"/>
            <a:ext cx="297180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C59B27"/>
                </a:solidFill>
              </a:defRPr>
            </a:pPr>
            <a:r>
              <a:t>STEP 5: EXPLAIN</a:t>
            </a:r>
          </a:p>
          <a:p>
            <a:pPr>
              <a:spcAft>
                <a:spcPts val="600"/>
              </a:spcAft>
              <a:defRPr sz="1400" b="1">
                <a:solidFill>
                  <a:srgbClr val="0A2540"/>
                </a:solidFill>
              </a:defRPr>
            </a:pPr>
            <a:r>
              <a:t>Clear Plain-English Summary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Provides a 2-minute case summary and suggested questions for the applicant without any confusing jargon.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384048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4069080"/>
            <a:ext cx="297180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C59B27"/>
                </a:solidFill>
              </a:defRPr>
            </a:pPr>
            <a:r>
              <a:t>STEP 6: DECIDE</a:t>
            </a:r>
          </a:p>
          <a:p>
            <a:pPr>
              <a:spcAft>
                <a:spcPts val="600"/>
              </a:spcAft>
              <a:defRPr sz="1400" b="1">
                <a:solidFill>
                  <a:srgbClr val="0A2540"/>
                </a:solidFill>
              </a:defRPr>
            </a:pPr>
            <a:r>
              <a:t>Officer Decision Cockpit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The officer makes the final call (Approve, Clarify, or Reject) and sends a clear email report to the citizen in 1 click.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C59B27"/>
                </a:solidFill>
              </a:defRPr>
            </a:pPr>
            <a:r>
              <a:t>SYSTEM ARCHITECTURE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How the System Works: Simple High-Level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2860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20116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C59B27"/>
                </a:solidFill>
              </a:defRPr>
            </a:pPr>
            <a:r>
              <a:t>1. CITIZEN INPUT</a:t>
            </a:r>
          </a:p>
          <a:p>
            <a:pPr>
              <a:spcAft>
                <a:spcPts val="1200"/>
              </a:spcAft>
              <a:defRPr sz="1400" b="1">
                <a:solidFill>
                  <a:srgbClr val="0A2540"/>
                </a:solidFill>
              </a:defRPr>
            </a:pPr>
            <a:r>
              <a:t>Citizen / Organization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Submits online application with attached files:</a:t>
            </a:r>
            <a:br/>
            <a:r>
              <a:t>• Project Proposal (PDF)</a:t>
            </a:r>
            <a:br/>
            <a:r>
              <a:t>• Budget Sheet (XLSX)</a:t>
            </a:r>
            <a:br/>
            <a:r>
              <a:t>• EIA Environmental Report</a:t>
            </a:r>
            <a:br/>
            <a:r>
              <a:t>• Organization Certificate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54680" y="3566160"/>
            <a:ext cx="365760" cy="320040"/>
          </a:xfrm>
          <a:prstGeom prst="rightArrow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0" y="1371600"/>
            <a:ext cx="4876495" cy="47548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1554480"/>
            <a:ext cx="451073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C59B27"/>
                </a:solidFill>
              </a:defRPr>
            </a:pPr>
            <a:r>
              <a:t>2. AUTOMATED VERIFICATION ENGINES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011680"/>
            <a:ext cx="4510735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77640" y="2103120"/>
            <a:ext cx="4236415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0A2540"/>
                </a:solidFill>
              </a:defRPr>
            </a:pPr>
            <a:r>
              <a:t>Smart OCR &amp; Document Reader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Converts scanned pages into clean digital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2926080"/>
            <a:ext cx="4510735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3017520"/>
            <a:ext cx="4236415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0A2540"/>
                </a:solidFill>
              </a:defRPr>
            </a:pPr>
            <a:r>
              <a:t>Cross-Document Mismatch Checker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Spots differences between budget and proposal.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3840480"/>
            <a:ext cx="4510735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40" y="3931920"/>
            <a:ext cx="4236415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0A2540"/>
                </a:solidFill>
              </a:defRPr>
            </a:pPr>
            <a:r>
              <a:t>Scheme Policy &amp; Guidelines Matcher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Checks limits in official government guides.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4754880"/>
            <a:ext cx="4510735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40" y="4846320"/>
            <a:ext cx="4236415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0A2540"/>
                </a:solidFill>
              </a:defRPr>
            </a:pPr>
            <a:r>
              <a:t>AI Risk &amp; Quality Scoring Engine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Calculates clear 0-100 risk &amp; quality scores.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668512" y="3566160"/>
            <a:ext cx="365760" cy="320040"/>
          </a:xfrm>
          <a:prstGeom prst="rightArrow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74175" y="1371600"/>
            <a:ext cx="2286000" cy="475488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11335" y="1554480"/>
            <a:ext cx="20116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C59B27"/>
                </a:solidFill>
              </a:defRPr>
            </a:pPr>
            <a:r>
              <a:t>3. OFFICER DECISION</a:t>
            </a:r>
          </a:p>
          <a:p>
            <a:pPr>
              <a:spcAft>
                <a:spcPts val="1200"/>
              </a:spcAft>
              <a:defRPr sz="1400" b="1">
                <a:solidFill>
                  <a:srgbClr val="0A2540"/>
                </a:solidFill>
              </a:defRPr>
            </a:pPr>
            <a:r>
              <a:t>Government Officer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1. Reviews verified evidence</a:t>
            </a:r>
            <a:br/>
            <a:r>
              <a:t>2. Checks risk score</a:t>
            </a:r>
            <a:br/>
            <a:r>
              <a:t>3. Makes final decision:</a:t>
            </a:r>
            <a:br/>
            <a:r>
              <a:t>   • Approve</a:t>
            </a:r>
            <a:br/>
            <a:r>
              <a:t>   • Request Clarification</a:t>
            </a:r>
            <a:br/>
            <a:r>
              <a:t>   • Reject</a:t>
            </a:r>
            <a:br/>
            <a:r>
              <a:t>4. Dispatches official email clearance report in 1 click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C59B27"/>
                </a:solidFill>
              </a:defRPr>
            </a:pPr>
            <a:r>
              <a:t>STEP-BY-STEP WORKFLOW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End-to-End Journey: 7 Simple Steps from Upload to Clearance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41732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234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A2540"/>
                </a:solidFill>
              </a:defRPr>
            </a:pPr>
            <a:r>
              <a:t>STEP 01</a:t>
            </a:r>
          </a:p>
          <a:p>
            <a:pPr>
              <a:spcAft>
                <a:spcPts val="1000"/>
              </a:spcAft>
              <a:defRPr sz="1300" b="1">
                <a:solidFill>
                  <a:srgbClr val="0A2540"/>
                </a:solidFill>
              </a:defRPr>
            </a:pPr>
            <a:r>
              <a:t>Application Submitted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Citizen fills details &amp; uploads files.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67128" y="3291840"/>
            <a:ext cx="109728" cy="182880"/>
          </a:xfrm>
          <a:prstGeom prst="rightArrow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76856" y="1645920"/>
            <a:ext cx="141732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68296" y="1828800"/>
            <a:ext cx="1234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A2540"/>
                </a:solidFill>
              </a:defRPr>
            </a:pPr>
            <a:r>
              <a:t>STEP 02</a:t>
            </a:r>
          </a:p>
          <a:p>
            <a:pPr>
              <a:spcAft>
                <a:spcPts val="1000"/>
              </a:spcAft>
              <a:defRPr sz="1300" b="1">
                <a:solidFill>
                  <a:srgbClr val="0A2540"/>
                </a:solidFill>
              </a:defRPr>
            </a:pPr>
            <a:r>
              <a:t>Files Checked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System verifies file formats &amp; safety.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12464" y="3291840"/>
            <a:ext cx="109728" cy="182880"/>
          </a:xfrm>
          <a:prstGeom prst="rightArrow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22191" y="1645920"/>
            <a:ext cx="141732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13631" y="1828800"/>
            <a:ext cx="1234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A2540"/>
                </a:solidFill>
              </a:defRPr>
            </a:pPr>
            <a:r>
              <a:t>STEP 03</a:t>
            </a:r>
          </a:p>
          <a:p>
            <a:pPr>
              <a:spcAft>
                <a:spcPts val="1000"/>
              </a:spcAft>
              <a:defRPr sz="1300" b="1">
                <a:solidFill>
                  <a:srgbClr val="0A2540"/>
                </a:solidFill>
              </a:defRPr>
            </a:pPr>
            <a:r>
              <a:t>Data Read (OCR)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Smart reader extracts text &amp; tables.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257799" y="3291840"/>
            <a:ext cx="109728" cy="182880"/>
          </a:xfrm>
          <a:prstGeom prst="rightArrow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67528" y="1645920"/>
            <a:ext cx="141732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8" y="1828800"/>
            <a:ext cx="1234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A2540"/>
                </a:solidFill>
              </a:defRPr>
            </a:pPr>
            <a:r>
              <a:t>STEP 04</a:t>
            </a:r>
          </a:p>
          <a:p>
            <a:pPr>
              <a:spcAft>
                <a:spcPts val="1000"/>
              </a:spcAft>
              <a:defRPr sz="1300" b="1">
                <a:solidFill>
                  <a:srgbClr val="0A2540"/>
                </a:solidFill>
              </a:defRPr>
            </a:pPr>
            <a:r>
              <a:t>Cross-Checked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Compares numbers across all files.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803136" y="3291840"/>
            <a:ext cx="109728" cy="182880"/>
          </a:xfrm>
          <a:prstGeom prst="rightArrow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12864" y="1645920"/>
            <a:ext cx="141732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04304" y="1828800"/>
            <a:ext cx="1234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A2540"/>
                </a:solidFill>
              </a:defRPr>
            </a:pPr>
            <a:r>
              <a:t>STEP 05</a:t>
            </a:r>
          </a:p>
          <a:p>
            <a:pPr>
              <a:spcAft>
                <a:spcPts val="1000"/>
              </a:spcAft>
              <a:defRPr sz="1300" b="1">
                <a:solidFill>
                  <a:srgbClr val="0A2540"/>
                </a:solidFill>
              </a:defRPr>
            </a:pPr>
            <a:r>
              <a:t>Rules Verified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Checks government scheme limits.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348472" y="3291840"/>
            <a:ext cx="109728" cy="182880"/>
          </a:xfrm>
          <a:prstGeom prst="rightArrow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58200" y="1645920"/>
            <a:ext cx="141732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828800"/>
            <a:ext cx="1234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A2540"/>
                </a:solidFill>
              </a:defRPr>
            </a:pPr>
            <a:r>
              <a:t>STEP 06</a:t>
            </a:r>
          </a:p>
          <a:p>
            <a:pPr>
              <a:spcAft>
                <a:spcPts val="1000"/>
              </a:spcAft>
              <a:defRPr sz="1300" b="1">
                <a:solidFill>
                  <a:srgbClr val="0A2540"/>
                </a:solidFill>
              </a:defRPr>
            </a:pPr>
            <a:r>
              <a:t>AI Risk Scored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Computes clear 0-100 risk score.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893808" y="3291840"/>
            <a:ext cx="109728" cy="182880"/>
          </a:xfrm>
          <a:prstGeom prst="rightArrow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03536" y="1645920"/>
            <a:ext cx="1417320" cy="420624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94976" y="1828800"/>
            <a:ext cx="1234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C59B27"/>
                </a:solidFill>
              </a:defRPr>
            </a:pPr>
            <a:r>
              <a:t>STEP 07</a:t>
            </a:r>
          </a:p>
          <a:p>
            <a:pPr>
              <a:spcAft>
                <a:spcPts val="1000"/>
              </a:spcAft>
              <a:defRPr sz="1300" b="1">
                <a:solidFill>
                  <a:srgbClr val="0A2540"/>
                </a:solidFill>
              </a:defRPr>
            </a:pPr>
            <a:r>
              <a:t>Officer Decision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Officer signs off &amp; emails citizen report.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C59B27"/>
                </a:solidFill>
              </a:defRPr>
            </a:pPr>
            <a:r>
              <a:t>KEY INNOVATIONS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Why Our Platform Is Special: 5 Key Superpowers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81328"/>
            <a:ext cx="101800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A2540"/>
                </a:solidFill>
              </a:defRPr>
            </a:pPr>
            <a:r>
              <a:t>1. 100% Reliable Legal Checks (No Guesswork)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Mandatory fields, budget limits, and scheme eligibility are calculated using exact mathematical rules. The AI never guesses or makes up fake pass results.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072865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87168"/>
            <a:ext cx="101800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A2540"/>
                </a:solidFill>
              </a:defRPr>
            </a:pPr>
            <a:r>
              <a:t>2. Automatic Conflict Spotter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If the proposal mentions a 12-month timeline but the schedule says 24 months, the system immediately flags this contradiction for the officer to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72865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493008"/>
            <a:ext cx="101800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A2540"/>
                </a:solidFill>
              </a:defRPr>
            </a:pPr>
            <a:r>
              <a:t>3. Instant Policy Clause Finder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The system searches official government scheme documents and highlights the exact policy paragraph relevant to the application.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72865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498848"/>
            <a:ext cx="101800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A2540"/>
                </a:solidFill>
              </a:defRPr>
            </a:pPr>
            <a:r>
              <a:t>4. Objective 0–100 Risk &amp; Quality Index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Instead of a vague recommendation, officers see clear numerical scores (e.g. Risk: 15/100, Quality: 92/100) showing exactly which factors contributed.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94960"/>
            <a:ext cx="1072865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504688"/>
            <a:ext cx="101800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A2540"/>
                </a:solidFill>
              </a:defRPr>
            </a:pPr>
            <a:r>
              <a:t>5. Always Stays Working (Resilient Design)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Even if internet AI services experience temporary delays, all core checks, document readers, and scoring models continue working smoothly without stopping.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C59B27"/>
                </a:solidFill>
              </a:defRPr>
            </a:pPr>
            <a:r>
              <a:t>DECISION &amp; NOTIFICATION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Officer Cockpit &amp; Instant Citizen Communication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47091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59B27"/>
                </a:solidFill>
              </a:defRPr>
            </a:pPr>
            <a:r>
              <a:t>FOR GOVERNMENT OFFICERS</a:t>
            </a:r>
          </a:p>
          <a:p>
            <a:pPr>
              <a:spcAft>
                <a:spcPts val="1000"/>
              </a:spcAft>
              <a:defRPr sz="1600" b="1">
                <a:solidFill>
                  <a:srgbClr val="0A2540"/>
                </a:solidFill>
              </a:defRPr>
            </a:pPr>
            <a:r>
              <a:t>The Officer Decision Cockpit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 Clear Step-by-Step Overview: View application details, flagged mismatches, and scheme rules all in one clean screen.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 One-Click Decisions: Choose Approve, Request Clarification, or Reject based on verified facts.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 Full Legal Accountability: If an officer chooses to override the AI advice, their written reason is securely recorded for government audit.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 English &amp; Hindi Language Support: Switch between English and Hindi (मराठी/हिंदी) instantly for total ease of 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371600"/>
            <a:ext cx="52578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3952" y="1600200"/>
            <a:ext cx="47091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59B27"/>
                </a:solidFill>
              </a:defRPr>
            </a:pPr>
            <a:r>
              <a:t>FOR CITIZENS &amp; APPLICANTS</a:t>
            </a:r>
          </a:p>
          <a:p>
            <a:pPr>
              <a:spcAft>
                <a:spcPts val="1000"/>
              </a:spcAft>
              <a:defRPr sz="1600" b="1">
                <a:solidFill>
                  <a:srgbClr val="0A2540"/>
                </a:solidFill>
              </a:defRPr>
            </a:pPr>
            <a:r>
              <a:t>Clear Email Clearance Reports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 1-Click Email Dispatch: Officers click 'Email Report' to send an official digital summary directly to the citizen's inbox.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 Simple Action Cards: If documents are missing or numbers don't match, the email clearly explains what the citizen needs to fix.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 Clean Mobile &amp; Desktop Layout: Emails look beautiful on both mobile phones and desktop computers with official government branding.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 Instant Delivery: Sent securely in seconds via standard email relays.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59B27"/>
                </a:solidFill>
              </a:defRPr>
            </a:pPr>
            <a:r>
              <a:t>REAL-WORLD IMPACT</a:t>
            </a:r>
          </a:p>
          <a:p>
            <a:pPr>
              <a:spcAft>
                <a:spcPts val="2000"/>
              </a:spcAft>
              <a:defRPr sz="2800" b="1">
                <a:solidFill>
                  <a:srgbClr val="FFFFFF"/>
                </a:solidFill>
              </a:defRPr>
            </a:pPr>
            <a:r>
              <a:t>Faster Reviews. Total Transparency. Zero Guesswork.</a:t>
            </a:r>
          </a:p>
          <a:p>
            <a:pPr>
              <a:spcAft>
                <a:spcPts val="200"/>
              </a:spcAft>
              <a:defRPr sz="1600" b="1">
                <a:solidFill>
                  <a:srgbClr val="C59B27"/>
                </a:solidFill>
              </a:defRPr>
            </a:pPr>
            <a:r>
              <a:t>✓  90% Faster for Citizens</a:t>
            </a:r>
          </a:p>
          <a:p>
            <a:pPr>
              <a:spcAft>
                <a:spcPts val="1400"/>
              </a:spcAft>
              <a:defRPr sz="1300">
                <a:solidFill>
                  <a:srgbClr val="CBD5E1"/>
                </a:solidFill>
              </a:defRPr>
            </a:pPr>
            <a:r>
              <a:t>    Citizens get responses in days instead of waiting up to a month for manual file review.</a:t>
            </a:r>
          </a:p>
          <a:p>
            <a:pPr>
              <a:spcAft>
                <a:spcPts val="200"/>
              </a:spcAft>
              <a:defRPr sz="1600" b="1">
                <a:solidFill>
                  <a:srgbClr val="C59B27"/>
                </a:solidFill>
              </a:defRPr>
            </a:pPr>
            <a:r>
              <a:t>✓  100% Transparent &amp; Auditable</a:t>
            </a:r>
          </a:p>
          <a:p>
            <a:pPr>
              <a:spcAft>
                <a:spcPts val="1400"/>
              </a:spcAft>
              <a:defRPr sz="1300">
                <a:solidFill>
                  <a:srgbClr val="CBD5E1"/>
                </a:solidFill>
              </a:defRPr>
            </a:pPr>
            <a:r>
              <a:t>    Every single calculation, rule test, and officer decision is permanently saved for total accountability.</a:t>
            </a:r>
          </a:p>
          <a:p>
            <a:pPr>
              <a:spcAft>
                <a:spcPts val="200"/>
              </a:spcAft>
              <a:defRPr sz="1600" b="1">
                <a:solidFill>
                  <a:srgbClr val="C59B27"/>
                </a:solidFill>
              </a:defRPr>
            </a:pPr>
            <a:r>
              <a:t>✓  Zero Mistakes in Policy Rules</a:t>
            </a:r>
          </a:p>
          <a:p>
            <a:pPr>
              <a:spcAft>
                <a:spcPts val="1400"/>
              </a:spcAft>
              <a:defRPr sz="1300">
                <a:solidFill>
                  <a:srgbClr val="CBD5E1"/>
                </a:solidFill>
              </a:defRPr>
            </a:pPr>
            <a:r>
              <a:t>    Mathematical checks and policy guideline search eliminate accidental human oversights.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